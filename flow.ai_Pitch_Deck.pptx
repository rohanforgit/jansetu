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(₹)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Food</c:v>
                  </c:pt>
                  <c:pt idx="1">
                    <c:v>Transport</c:v>
                  </c:pt>
                  <c:pt idx="2">
                    <c:v>Entertainment</c:v>
                  </c:pt>
                  <c:pt idx="3">
                    <c:v>Shopping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1850</c:v>
                </c:pt>
                <c:pt idx="1">
                  <c:v>890</c:v>
                </c:pt>
                <c:pt idx="2">
                  <c:v>499</c:v>
                </c:pt>
                <c:pt idx="3">
                  <c:v>1299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where your money really goes.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that auto-categorizes every rupee you spend — and tells you, before month-end, whether you're on track.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students &amp; young professionals in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₹5,000 disappear this month?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03320" cy="4297680"/>
          </a:xfrm>
          <a:prstGeom prst="roundRect">
            <a:avLst>
              <a:gd name="adj" fmla="val 2963"/>
            </a:avLst>
          </a:prstGeom>
          <a:solidFill>
            <a:srgbClr val="0234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spend, every single 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886200"/>
            <a:ext cx="2606040" cy="0"/>
          </a:xfrm>
          <a:prstGeom prst="line">
            <a:avLst/>
          </a:prstGeom>
          <a:noFill/>
          <a:ln w="12700">
            <a:solidFill>
              <a:srgbClr val="0F5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148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know their salary or pocket money.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can't tell you where it went.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17720" y="1828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spending is scattered everywhere: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2331720"/>
            <a:ext cx="3360420" cy="868680"/>
          </a:xfrm>
          <a:prstGeom prst="roundRect">
            <a:avLst>
              <a:gd name="adj" fmla="val 842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23160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0600" y="2734056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GPay, PhonePe, Paytm — a dozen tiny payments a 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06740" y="2331720"/>
            <a:ext cx="3360420" cy="868680"/>
          </a:xfrm>
          <a:prstGeom prst="roundRect">
            <a:avLst>
              <a:gd name="adj" fmla="val 842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9620" y="2423160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9620" y="2734056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accounts, multiple statements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401568"/>
            <a:ext cx="3360420" cy="868680"/>
          </a:xfrm>
          <a:prstGeom prst="roundRect">
            <a:avLst>
              <a:gd name="adj" fmla="val 842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493008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0600" y="3803904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Untracked, unrecorded, unrecoverable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06740" y="3401568"/>
            <a:ext cx="3360420" cy="868680"/>
          </a:xfrm>
          <a:prstGeom prst="roundRect">
            <a:avLst>
              <a:gd name="adj" fmla="val 842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9620" y="3493008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89620" y="3803904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Spotify, gym — auto-debited and forgotten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4471416"/>
            <a:ext cx="3360420" cy="868680"/>
          </a:xfrm>
          <a:prstGeom prst="roundRect">
            <a:avLst>
              <a:gd name="adj" fmla="val 842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562856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00600" y="4873752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Swiggy, Zomato — the silent budget killer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06740" y="4471416"/>
            <a:ext cx="3360420" cy="868680"/>
          </a:xfrm>
          <a:prstGeom prst="roundRect">
            <a:avLst>
              <a:gd name="adj" fmla="val 842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9620" y="4562856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transport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89620" y="4873752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Metro, cabs — one-off but constant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entry is where trackers go to die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EAF5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expense = manual typing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 amount, pick a category, add a note — for every single transaction, every 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502920" cy="502920"/>
          </a:xfrm>
          <a:prstGeom prst="ellipse">
            <a:avLst/>
          </a:prstGeom>
          <a:solidFill>
            <a:srgbClr val="EAF5F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effort, low reward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(insight) only shows up weeks later; the cost (typing) is paid immediately.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502920" cy="502920"/>
          </a:xfrm>
          <a:prstGeom prst="ellipse">
            <a:avLst/>
          </a:prstGeom>
          <a:solidFill>
            <a:srgbClr val="EA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005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within days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71600" y="43525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log diligently for 2–3 days, then quietly stop opening the app.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502920" cy="502920"/>
          </a:xfrm>
          <a:prstGeom prst="ellipse">
            <a:avLst/>
          </a:prstGeom>
          <a:solidFill>
            <a:srgbClr val="EA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57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0840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only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71600" y="54315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used, these apps show what already happened — never what's about to happen.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02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89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wins isn't the one with the most features — it's the one that needs zero effort to keep using.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AI do the tracking. You just live your life.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19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671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transactions from UPI, bank SMS/alerts, and connected accounts — no manual entry.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4655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every transaction into Food, Transport, Shopping, Entertainment &amp; more, instantly.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416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advise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76402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month-end spend and suggests the smallest change that saves the most.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4709160" cy="4480560"/>
          </a:xfrm>
          <a:prstGeom prst="roundRect">
            <a:avLst>
              <a:gd name="adj" fmla="val 3673"/>
            </a:avLst>
          </a:prstGeom>
          <a:solidFill>
            <a:srgbClr val="02343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0574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so far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₹4,538 spent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8408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₹1850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3447288"/>
            <a:ext cx="4069080" cy="128016"/>
          </a:xfrm>
          <a:prstGeom prst="roundRect">
            <a:avLst>
              <a:gd name="adj" fmla="val 50000"/>
            </a:avLst>
          </a:prstGeom>
          <a:solidFill>
            <a:srgbClr val="0F5A55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3447288"/>
            <a:ext cx="4069080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84080" y="3776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0" y="4069080"/>
            <a:ext cx="4069080" cy="128016"/>
          </a:xfrm>
          <a:prstGeom prst="roundRect">
            <a:avLst>
              <a:gd name="adj" fmla="val 50000"/>
            </a:avLst>
          </a:prstGeom>
          <a:solidFill>
            <a:srgbClr val="0F5A55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4069080"/>
            <a:ext cx="1957557" cy="12801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398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84080" y="43982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0" y="4690872"/>
            <a:ext cx="4069080" cy="128016"/>
          </a:xfrm>
          <a:prstGeom prst="roundRect">
            <a:avLst>
              <a:gd name="adj" fmla="val 50000"/>
            </a:avLst>
          </a:prstGeom>
          <a:solidFill>
            <a:srgbClr val="0F5A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0" y="4690872"/>
            <a:ext cx="1097552" cy="128016"/>
          </a:xfrm>
          <a:prstGeom prst="roundRect">
            <a:avLst>
              <a:gd name="adj" fmla="val 50000"/>
            </a:avLst>
          </a:prstGeom>
          <a:solidFill>
            <a:srgbClr val="6FB7C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5020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84080" y="5020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₹1299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0" y="5312664"/>
            <a:ext cx="4069080" cy="128016"/>
          </a:xfrm>
          <a:prstGeom prst="roundRect">
            <a:avLst>
              <a:gd name="adj" fmla="val 50000"/>
            </a:avLst>
          </a:prstGeom>
          <a:solidFill>
            <a:srgbClr val="0F5A55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5312664"/>
            <a:ext cx="2857154" cy="12801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5751576"/>
            <a:ext cx="4069080" cy="0"/>
          </a:xfrm>
          <a:prstGeom prst="line">
            <a:avLst/>
          </a:prstGeom>
          <a:noFill/>
          <a:ln w="12700">
            <a:solidFill>
              <a:srgbClr val="0F5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5916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Projected month-end: ₹8,700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real advice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4732" y="24963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8473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53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apps, bank SMS/alerts,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logs &amp; subscriptions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6365" y="3049524"/>
            <a:ext cx="153619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2663190" y="233172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9282" y="24963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9928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54630" y="2953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54630" y="3291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 tags each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by category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80915" y="3049524"/>
            <a:ext cx="153619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7740" y="233172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13832" y="249631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51383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9180" y="2953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69180" y="3291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trends, spikes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recurring spend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95465" y="3049524"/>
            <a:ext cx="153619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892290" y="233172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AF9"/>
          </a:solidFill>
          <a:ln w="19050">
            <a:solidFill>
              <a:srgbClr val="1E8A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8382" y="2496312"/>
            <a:ext cx="402336" cy="402336"/>
          </a:xfrm>
          <a:prstGeom prst="ellipse">
            <a:avLst/>
          </a:prstGeom>
          <a:solidFill>
            <a:srgbClr val="1E8A9E"/>
          </a:solidFill>
          <a:ln/>
        </p:spPr>
      </p:sp>
      <p:sp>
        <p:nvSpPr>
          <p:cNvPr id="24" name="Text 22"/>
          <p:cNvSpPr/>
          <p:nvPr/>
        </p:nvSpPr>
        <p:spPr>
          <a:xfrm>
            <a:off x="762838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83730" y="2953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83730" y="3291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month-end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10015" y="3049524"/>
            <a:ext cx="153619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28" name="Shape 26"/>
          <p:cNvSpPr/>
          <p:nvPr/>
        </p:nvSpPr>
        <p:spPr>
          <a:xfrm>
            <a:off x="9006840" y="233172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AF9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2932" y="2496312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974293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98280" y="2953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nudges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98280" y="3291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tips &amp;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0332720" cy="1417320"/>
          </a:xfrm>
          <a:prstGeom prst="roundRect">
            <a:avLst>
              <a:gd name="adj" fmla="val 6452"/>
            </a:avLst>
          </a:prstGeom>
          <a:solidFill>
            <a:srgbClr val="023436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entry required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8680" y="52852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connected, flow.ai runs quietly in the background — the dashboard and predictions update themselves after every transaction.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categorization, in real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₹249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7764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Food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2834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₹89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77640" y="28346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26080" y="3520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₹1,299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77640" y="3520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Shopping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42062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4206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Entertainment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92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Coffee Day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26080" y="48920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77640" y="4892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Food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50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Auto-sorted totals</a:t>
            </a:r>
            <a:endParaRPr lang="en-US" sz="13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852160" y="214884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— the part that actually changes behavior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EAF5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your current spending rate, you'll spend ₹8,700 this month.”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06440" y="2766060"/>
            <a:ext cx="502920" cy="274320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023436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22402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5236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nudge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27889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 food delivery by 2 orders/week → estimated saving ₹1,200/month.”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44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live pace, not last month's report — the alert arrives while there's still time to act.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480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001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are specific and small: one habit tweak, not a full budget overhaul.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052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58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nudge shows the exact rupee impact, so the advice is easy to trust and act 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What-If Simulator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846320" cy="4206240"/>
          </a:xfrm>
          <a:prstGeom prst="roundRect">
            <a:avLst>
              <a:gd name="adj" fmla="val 3261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3931920" cy="685800"/>
          </a:xfrm>
          <a:prstGeom prst="roundRect">
            <a:avLst>
              <a:gd name="adj" fmla="val 1866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afford an iPhone in 4 months?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88720" y="3017520"/>
            <a:ext cx="3931920" cy="2651760"/>
          </a:xfrm>
          <a:prstGeom prst="roundRect">
            <a:avLst>
              <a:gd name="adj" fmla="val 4828"/>
            </a:avLst>
          </a:prstGeom>
          <a:solidFill>
            <a:srgbClr val="02343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if you save ₹6,200/month.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Cut food delivery orders by half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1732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Skip 2 shopping impulse buys/month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17320" y="4471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Switch 3 cab rides/week to metro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4992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Projected: ₹24,800 saved by week 16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06440" y="1828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simulator reasons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2240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input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24963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states a target: item, amount, or timeframe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624328"/>
            <a:ext cx="0" cy="502920"/>
          </a:xfrm>
          <a:prstGeom prst="line">
            <a:avLst/>
          </a:prstGeom>
          <a:noFill/>
          <a:ln w="19050">
            <a:solidFill>
              <a:srgbClr val="CFE8E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806440" y="31546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analysis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55080" y="34107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historical + predicted spend by category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98464" y="3538728"/>
            <a:ext cx="0" cy="502920"/>
          </a:xfrm>
          <a:prstGeom prst="line">
            <a:avLst/>
          </a:prstGeom>
          <a:noFill/>
          <a:ln w="19050">
            <a:solidFill>
              <a:srgbClr val="CFE8E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06440" y="40690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55080" y="43251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combinations of category cuts against the goal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98464" y="4453128"/>
            <a:ext cx="0" cy="502920"/>
          </a:xfrm>
          <a:prstGeom prst="line">
            <a:avLst/>
          </a:prstGeom>
          <a:noFill/>
          <a:ln w="19050">
            <a:solidFill>
              <a:srgbClr val="CFE8E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06440" y="4983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8064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355080" y="5239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set of changes that hits the target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580644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EAF5F3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5806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flow.ai from “a tracker” into “a financial advisor.”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underserved, habit-forming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AF5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385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young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in India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AF5F3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9385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UPI-first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4340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transacting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by default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AF5F3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9385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5528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use any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Auto-tracking &amp; categorization free forever — drives adoption and daily habit.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39776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layer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89120" y="4526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simulator, deep predictions &amp; goal planning behind a low-cost subscription.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39776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6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partnerships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4526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savings, cashback &amp; credit offers surfaced contextually — commission-based.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tracking money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understanding it.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 turns scattered transactions into a single, predictive picture of your financial life — so every student and young professional can answer one question with confidence: “Can I afford this?”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5166360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66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 India's smartest personal finance copilot.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flow.ai   ·   hello@flow.ai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2026-08-23T11:05:12Z</dcterms:created>
  <dcterms:modified xsi:type="dcterms:W3CDTF">2026-08-23T11:05:12Z</dcterms:modified>
</cp:coreProperties>
</file>